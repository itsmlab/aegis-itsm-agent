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188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Arial"/>
              </a:rPr>
              <a:t>Year 1 MRR Projection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($)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Q1 (Beta)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5493</c:v>
                </c:pt>
                <c:pt idx="2">
                  <c:v>12485</c:v>
                </c:pt>
                <c:pt idx="3">
                  <c:v>22475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45-440D-B031-FC5544DBB5F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8636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AEGIS = Autonomous AI Agent for IT Incident Resolution. Introduce yourself: 15+ years enterprise SRE, currently Tier-4 Escalation Authority at Blue Yonder. This product solves a problem you live every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Pause after the $5,600/min stat. Ask: how long did your last critical incident take to diagnose? The knowledge to resolve it already existed — in a postmortem someone else wrote. AEGIS makes that knowledge available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message: AEGIS is not just for critical incidents. It handles everything from L1 tickets to Tier-4 outages. The 15-second workflow is the core differentiator.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specialized components work in tandem. The Integration Module is what makes AEGIS plug into any existing stack without replacing current tools. Emphasize: your team keeps using PagerDuty or Slack — AEGIS adds intelligence on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pattern includes: symptoms, root cause, and a production-ready remediation script. The knowledge base is the moat — it grows with every incident AEGIS resolves. Roadmap: 20+ patterns in Phase 2, 50+ at launch.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the SOM — 150 companies in Year 1 at $1,000 avg MRR = $150k MRR. That's the beachhead. Once we have case studies and MTTR data, the mid-market and enterprise doors open naturally.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 is real: nobody combines all three at this price point. PagerDuty costs more and doesn't diagnose. ServiceNow costs 25x more and requires a dedicated admin. AEGIS targets the companies that fall between the cracks.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$499 removes the approval barrier — a VP Engineering signs off without CFO. $1,499 is where the real business lives. Enterprise is custom because every contract is different. Start beta customers on Shield for free, convert to Guard after 90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 is free beta — we need MTTR data and testimonials more than revenue right now. Q4 target of $22k MRR is conservative. One enterprise contract in Q4 changes the picture dramatically.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is nearly done. We need 3 beta customers to move to Phase 2. The ask at the end of this deck is specifically for beta partners — no commitment, free for 90 days, we handle all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not a PowerPoint startup. The core product works today. You can run orchestrator.py right now and get a real diagnosis in under 15 seconds. The GitHub repo is live — invite them to check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unfair advantage: I'm not building a solution for a problem I read about. I live this every day. As Tier-4 Escalation Authority at Blue Yonder I diagnose code-level defects in mission-critical SaaS environments. AEGIS is the tool I wish I had.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beta ask. If they're a potential customer: 'I want YOU to be one of the 3 beta companies. Zero cost, 90 days, I handle all setup, you just let me show you what AEGIS can do in your environment.' If investor: focus on the TAM and the unique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253480">
              <a:alpha val="60000"/>
            </a:srgbClr>
          </a:solidFill>
          <a:ln w="12700">
            <a:solidFill>
              <a:srgbClr val="253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0" y="2286000"/>
            <a:ext cx="2743200" cy="2743200"/>
          </a:xfrm>
          <a:prstGeom prst="ellipse">
            <a:avLst/>
          </a:prstGeom>
          <a:solidFill>
            <a:srgbClr val="1A2860">
              <a:alpha val="50000"/>
            </a:srgbClr>
          </a:solidFill>
          <a:ln w="12700">
            <a:solidFill>
              <a:srgbClr val="1A2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7315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400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457200" y="17373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AI Agent for IT Incident Resolution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57200" y="23774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0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L1 tickets to Tier-4 outages — resolved in seconds, not hours.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3017520"/>
            <a:ext cx="3657600" cy="0"/>
          </a:xfrm>
          <a:prstGeom prst="line">
            <a:avLst/>
          </a:prstGeom>
          <a:noFill/>
          <a:ln w="12700">
            <a:solidFill>
              <a:srgbClr val="CADCFC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Leopoldo Lara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3520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</a:t>
            </a:r>
            <a:r>
              <a:rPr lang="en-US" sz="1100">
                <a:solidFill>
                  <a:srgbClr val="8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Engineer &amp; </a:t>
            </a:r>
            <a:r>
              <a:rPr lang="en-US" sz="1100" dirty="0">
                <a:solidFill>
                  <a:srgbClr val="8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M.Sc. in Artificial Intelligence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3840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laral5173@gmail.com  •  github.com/laral5173/aegis-itsm-agent  • 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an IT incident occurs — whether routine or critical — teams face the same problem: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6002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4+ hours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365760" y="2697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time to diagnose a Tier-3/4 incident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468880" y="146304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160020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6888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lost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2468880" y="2697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lives in Slack, heads, undocumented runbooks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0" y="146304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160020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7200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60-70%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4572000" y="2697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support time on repetitive L1/L2 tickets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675120" y="146304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F4F6F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0" y="1600200"/>
            <a:ext cx="502920" cy="5029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675120" y="22402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$5,600/min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6675120" y="26974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enterprise cost of downtime (Gartner)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57200" y="40233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FE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548640" y="41148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 already exists in public postmortems — but it's not accessible when and where it's needed.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is a full-spectrum autonomous AI agent that resolves IT incidents across all severity levels: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600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94560" y="16002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or ticket via webhook, Slack, PagerDuty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50008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350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235000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94560" y="23500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L1/L2 tickets and suggests instant resolution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99816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0998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3099816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94560" y="309981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L3/L4 root cause in &lt; 15 seconds via RAG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49624"/>
            <a:ext cx="411480" cy="41148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849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849624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94560" y="384962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remediation script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822960"/>
            <a:ext cx="3931920" cy="3977640"/>
          </a:xfrm>
          <a:prstGeom prst="roundRect">
            <a:avLst>
              <a:gd name="adj" fmla="val 3488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914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15-Second Workflow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74920" y="1371600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2534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120640" y="1371600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0s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0" y="137160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enters via Integration Module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74920" y="1993392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2534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20640" y="1993392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2s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199339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normalized and routed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74920" y="2615184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2534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120640" y="2615184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5s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0" y="261518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searches 10+ patterns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74920" y="3236976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2534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20640" y="3236976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10s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943600" y="323697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generates diagnosis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74920" y="3858768"/>
            <a:ext cx="3474720" cy="502920"/>
          </a:xfrm>
          <a:prstGeom prst="roundRect">
            <a:avLst>
              <a:gd name="adj" fmla="val 14545"/>
            </a:avLst>
          </a:prstGeom>
          <a:solidFill>
            <a:srgbClr val="1A4D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120640" y="385876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= 15s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43600" y="385876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ready for approval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Module  —  Webhook  |  Slack  |  PagerDuty  |  Jira  |  ServiceNow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480560" y="1508760"/>
            <a:ext cx="0" cy="2743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Classifier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45920" y="2286000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45920" y="2286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/ L2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ChromaDB + SentenceTransformers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880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Category + resolution + confidence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828800"/>
            <a:ext cx="4114800" cy="1828800"/>
          </a:xfrm>
          <a:prstGeom prst="roundRect">
            <a:avLst>
              <a:gd name="adj" fmla="val 6000"/>
            </a:avLst>
          </a:prstGeom>
          <a:solidFill>
            <a:srgbClr val="F4F6F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54880" y="1920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Orchestrator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0" y="2286000"/>
            <a:ext cx="1554480" cy="274320"/>
          </a:xfrm>
          <a:prstGeom prst="roundRect">
            <a:avLst>
              <a:gd name="adj" fmla="val 26667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0" y="2286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/ L4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54880" y="2606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API + RAG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28803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Diagnosis + remediation script &lt; 15s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80560" y="3657600"/>
            <a:ext cx="0" cy="27432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8412480" cy="594360"/>
          </a:xfrm>
          <a:prstGeom prst="roundRect">
            <a:avLst>
              <a:gd name="adj" fmla="val 15385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9319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4D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returned to source system: Slack message  /  PagerDuty note  /  Jira comment  /  ServiceNow update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Base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real incident patterns extracted from public postmortems of companies operating at scale: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41732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AEGIS-001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371600" y="14173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 dependency saturation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520440" y="1545336"/>
            <a:ext cx="777240" cy="310896"/>
          </a:xfrm>
          <a:prstGeom prst="roundRect">
            <a:avLst>
              <a:gd name="adj" fmla="val 17647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20440" y="154533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10312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AEGIS-002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21031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error during deploy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20440" y="2231136"/>
            <a:ext cx="777240" cy="310896"/>
          </a:xfrm>
          <a:prstGeom prst="roundRect">
            <a:avLst>
              <a:gd name="adj" fmla="val 17647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20440" y="223113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7889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AEGIS-003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71600" y="27889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limiting / throttling spike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20440" y="2916936"/>
            <a:ext cx="777240" cy="310896"/>
          </a:xfrm>
          <a:prstGeom prst="roundRect">
            <a:avLst>
              <a:gd name="adj" fmla="val 17647"/>
            </a:avLst>
          </a:prstGeom>
          <a:solidFill>
            <a:srgbClr val="FEF9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20440" y="291693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47472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34747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AEGIS-004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71600" y="34747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 starts and concurrency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20440" y="3602736"/>
            <a:ext cx="777240" cy="310896"/>
          </a:xfrm>
          <a:prstGeom prst="roundRect">
            <a:avLst>
              <a:gd name="adj" fmla="val 17647"/>
            </a:avLst>
          </a:prstGeom>
          <a:solidFill>
            <a:srgbClr val="FEF9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520440" y="360273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416052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41605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AEGIS-005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71600" y="41605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failover failure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520440" y="4288536"/>
            <a:ext cx="777240" cy="310896"/>
          </a:xfrm>
          <a:prstGeom prst="roundRect">
            <a:avLst>
              <a:gd name="adj" fmla="val 17647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520440" y="428853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141732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0" y="14173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AEGIS-006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760720" y="14173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 / Anycast routing loop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909560" y="1545336"/>
            <a:ext cx="777240" cy="310896"/>
          </a:xfrm>
          <a:prstGeom prst="roundRect">
            <a:avLst>
              <a:gd name="adj" fmla="val 17647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909560" y="154533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10312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46320" y="21031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AEGIS-007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760720" y="21031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cluster partition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909560" y="2231136"/>
            <a:ext cx="777240" cy="310896"/>
          </a:xfrm>
          <a:prstGeom prst="roundRect">
            <a:avLst>
              <a:gd name="adj" fmla="val 17647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909560" y="223113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278892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846320" y="27889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AEGIS-008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760720" y="27889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metadata lock cascade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909560" y="2916936"/>
            <a:ext cx="777240" cy="310896"/>
          </a:xfrm>
          <a:prstGeom prst="roundRect">
            <a:avLst>
              <a:gd name="adj" fmla="val 17647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909560" y="291693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347472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846320" y="34747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AEGIS-009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760720" y="34747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Cassandra saturation post-chaos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909560" y="3602736"/>
            <a:ext cx="777240" cy="310896"/>
          </a:xfrm>
          <a:prstGeom prst="roundRect">
            <a:avLst>
              <a:gd name="adj" fmla="val 17647"/>
            </a:avLst>
          </a:prstGeom>
          <a:solidFill>
            <a:srgbClr val="FEF9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909560" y="360273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4160520"/>
            <a:ext cx="4114800" cy="566928"/>
          </a:xfrm>
          <a:prstGeom prst="roundRect">
            <a:avLst>
              <a:gd name="adj" fmla="val 1290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846320" y="416052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AEGIS-010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760720" y="41605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BGP route leak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909560" y="4288536"/>
            <a:ext cx="777240" cy="310896"/>
          </a:xfrm>
          <a:prstGeom prst="roundRect">
            <a:avLst>
              <a:gd name="adj" fmla="val 17647"/>
            </a:avLst>
          </a:prstGeom>
          <a:solidFill>
            <a:srgbClr val="FEE2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7909560" y="4288536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651760" cy="2194560"/>
          </a:xfrm>
          <a:prstGeom prst="roundRect">
            <a:avLst>
              <a:gd name="adj" fmla="val 6250"/>
            </a:avLst>
          </a:prstGeom>
          <a:solidFill>
            <a:srgbClr val="EEF2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5544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~30,000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companies 50–500 employees globally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651760" cy="2194560"/>
          </a:xfrm>
          <a:prstGeom prst="roundRect">
            <a:avLst>
              <a:gd name="adj" fmla="val 6250"/>
            </a:avLst>
          </a:prstGeom>
          <a:solidFill>
            <a:srgbClr val="E0E7FF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0" y="1051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0" y="15544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~5,000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91840" y="2194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Companies with active DevOps/SRE culture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035040" y="914400"/>
            <a:ext cx="2651760" cy="2194560"/>
          </a:xfrm>
          <a:prstGeom prst="roundRect">
            <a:avLst>
              <a:gd name="adj" fmla="val 6250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35040" y="1051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035040" y="155448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~150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26480" y="2194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Realistic target — Year 1 (3% of SAM)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246120"/>
            <a:ext cx="8412480" cy="457200"/>
          </a:xfrm>
          <a:prstGeom prst="roundRect">
            <a:avLst>
              <a:gd name="adj" fmla="val 16000"/>
            </a:avLst>
          </a:prstGeom>
          <a:solidFill>
            <a:srgbClr val="FFF7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now: LLM costs dropped 10x in 2 years — DeepSeek at $0.14/1M tokens makes autonomous diagnosis economically viable for mid-size companies for the first time.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Expansion path: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20624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5760" y="4206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50–500 (now)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14600" y="420624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514600" y="4206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Mid-market 500–2k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420624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63440" y="4206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+ ServiceNow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12280" y="4206240"/>
            <a:ext cx="2011680" cy="548640"/>
          </a:xfrm>
          <a:prstGeom prst="roundRect">
            <a:avLst>
              <a:gd name="adj" fmla="val 1333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812280" y="4206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 / Banks / Airlines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201168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377440" y="960120"/>
            <a:ext cx="118872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377440" y="9601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L1/L2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566160" y="960120"/>
            <a:ext cx="201168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66160" y="9601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L3/L4 Diagnosis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77840" y="960120"/>
            <a:ext cx="164592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577840" y="960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 Scripts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23760" y="960120"/>
            <a:ext cx="1645920" cy="4114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223760" y="960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371600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1371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PagerDuty AIOps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377440" y="1371600"/>
            <a:ext cx="1188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377440" y="1371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66160" y="1371600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66160" y="13716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77840" y="137160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577840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223760" y="137160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23760" y="13716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&gt;$20k/yr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1920240"/>
            <a:ext cx="201168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65760" y="1920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FireHydrant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377440" y="1920240"/>
            <a:ext cx="118872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377440" y="19202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566160" y="1920240"/>
            <a:ext cx="201168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566160" y="1920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577840" y="1920240"/>
            <a:ext cx="164592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577840" y="1920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223760" y="1920240"/>
            <a:ext cx="164592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223760" y="19202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&gt;$15k/yr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2468880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2468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Zendesk AI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377440" y="2468880"/>
            <a:ext cx="11887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377440" y="24688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566160" y="2468880"/>
            <a:ext cx="2011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566160" y="246888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577840" y="246888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577840" y="2468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23760" y="2468880"/>
            <a:ext cx="16459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223760" y="24688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&gt;$10k/yr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365760" y="3017520"/>
            <a:ext cx="201168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365760" y="3017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377440" y="3017520"/>
            <a:ext cx="118872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377440" y="30175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566160" y="3017520"/>
            <a:ext cx="201168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566160" y="3017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577840" y="3017520"/>
            <a:ext cx="164592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57784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223760" y="3017520"/>
            <a:ext cx="164592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223760" y="30175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&gt;$50k/yr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65760" y="3566160"/>
            <a:ext cx="2011680" cy="502920"/>
          </a:xfrm>
          <a:prstGeom prst="rect">
            <a:avLst/>
          </a:prstGeom>
          <a:solidFill>
            <a:srgbClr val="EEF2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65760" y="3566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377440" y="3566160"/>
            <a:ext cx="1188720" cy="502920"/>
          </a:xfrm>
          <a:prstGeom prst="rect">
            <a:avLst/>
          </a:prstGeom>
          <a:solidFill>
            <a:srgbClr val="EEF2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2377440" y="35661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3566160" y="3566160"/>
            <a:ext cx="2011680" cy="502920"/>
          </a:xfrm>
          <a:prstGeom prst="rect">
            <a:avLst/>
          </a:prstGeom>
          <a:solidFill>
            <a:srgbClr val="EEF2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566160" y="3566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— &lt;15s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5577840" y="3566160"/>
            <a:ext cx="1645920" cy="502920"/>
          </a:xfrm>
          <a:prstGeom prst="rect">
            <a:avLst/>
          </a:prstGeom>
          <a:solidFill>
            <a:srgbClr val="EEF2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577840" y="3566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(sandbox)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223760" y="3566160"/>
            <a:ext cx="1645920" cy="502920"/>
          </a:xfrm>
          <a:prstGeom prst="rect">
            <a:avLst/>
          </a:prstGeom>
          <a:solidFill>
            <a:srgbClr val="EEF2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7223760" y="3566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$499/mo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365760" y="425196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is the first to combine full-spectrum coverage (L1–L4) + autonomous diagnosis + executable scripts at a price accessible to mid-size companies.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2697480" cy="3931920"/>
          </a:xfrm>
          <a:prstGeom prst="roundRect">
            <a:avLst>
              <a:gd name="adj" fmla="val 5085"/>
            </a:avLst>
          </a:prstGeom>
          <a:solidFill>
            <a:srgbClr val="F4F6F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Shield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20040" y="141732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$499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20116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423160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58952" y="23774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50 incidents/month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81635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8952" y="277063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L1/L2 ticket classification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09544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58952" y="31638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L3/L4 diagnosis engine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02736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8952" y="355701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Universal webhook integration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995928"/>
            <a:ext cx="201168" cy="20116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58952" y="395020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notifications</a:t>
            </a:r>
            <a:endParaRPr lang="en-US" sz="10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389120"/>
            <a:ext cx="201168" cy="201168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758952" y="43434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support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3154680" y="914400"/>
            <a:ext cx="2697480" cy="3931920"/>
          </a:xfrm>
          <a:prstGeom prst="roundRect">
            <a:avLst>
              <a:gd name="adj" fmla="val 5085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2"/>
          <p:cNvSpPr/>
          <p:nvPr/>
        </p:nvSpPr>
        <p:spPr>
          <a:xfrm>
            <a:off x="3703320" y="685800"/>
            <a:ext cx="1600200" cy="320040"/>
          </a:xfrm>
          <a:prstGeom prst="roundRect">
            <a:avLst>
              <a:gd name="adj" fmla="val 28571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3"/>
          <p:cNvSpPr/>
          <p:nvPr/>
        </p:nvSpPr>
        <p:spPr>
          <a:xfrm>
            <a:off x="3703320" y="68580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3154680" y="10058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Guard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3154680" y="141732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$1,499</a:t>
            </a:r>
            <a:endParaRPr lang="en-US" sz="3000" dirty="0"/>
          </a:p>
        </p:txBody>
      </p:sp>
      <p:sp>
        <p:nvSpPr>
          <p:cNvPr id="24" name="Text 16"/>
          <p:cNvSpPr/>
          <p:nvPr/>
        </p:nvSpPr>
        <p:spPr>
          <a:xfrm>
            <a:off x="3154680" y="201168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0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/month</a:t>
            </a:r>
            <a:endParaRPr lang="en-US" sz="1100" dirty="0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2423160"/>
            <a:ext cx="201168" cy="20116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3593592" y="23774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incidents</a:t>
            </a:r>
            <a:endParaRPr lang="en-US" sz="10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2816352"/>
            <a:ext cx="201168" cy="201168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3593592" y="277063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Shield</a:t>
            </a:r>
            <a:endParaRPr lang="en-US" sz="1000" dirty="0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3209544"/>
            <a:ext cx="201168" cy="20116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3593592" y="31638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PagerDuty + Datadog integration</a:t>
            </a:r>
            <a:endParaRPr lang="en-US" sz="1000" dirty="0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3602736"/>
            <a:ext cx="201168" cy="201168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3593592" y="355701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bot (native)</a:t>
            </a:r>
            <a:endParaRPr lang="en-US" sz="1000" dirty="0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3995928"/>
            <a:ext cx="201168" cy="201168"/>
          </a:xfrm>
          <a:prstGeom prst="rect">
            <a:avLst/>
          </a:prstGeom>
        </p:spPr>
      </p:pic>
      <p:sp>
        <p:nvSpPr>
          <p:cNvPr id="34" name="Text 21"/>
          <p:cNvSpPr/>
          <p:nvPr/>
        </p:nvSpPr>
        <p:spPr>
          <a:xfrm>
            <a:off x="3593592" y="395020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auto-execution (sandbox)</a:t>
            </a:r>
            <a:endParaRPr lang="en-US" sz="1000" dirty="0"/>
          </a:p>
        </p:txBody>
      </p:sp>
      <p:pic>
        <p:nvPicPr>
          <p:cNvPr id="35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4389120"/>
            <a:ext cx="201168" cy="201168"/>
          </a:xfrm>
          <a:prstGeom prst="rect">
            <a:avLst/>
          </a:prstGeom>
        </p:spPr>
      </p:pic>
      <p:sp>
        <p:nvSpPr>
          <p:cNvPr id="36" name="Text 22"/>
          <p:cNvSpPr/>
          <p:nvPr/>
        </p:nvSpPr>
        <p:spPr>
          <a:xfrm>
            <a:off x="3593592" y="43434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E0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support + custom patterns</a:t>
            </a:r>
            <a:endParaRPr lang="en-US" sz="1000" dirty="0"/>
          </a:p>
        </p:txBody>
      </p:sp>
      <p:sp>
        <p:nvSpPr>
          <p:cNvPr id="37" name="Shape 23"/>
          <p:cNvSpPr/>
          <p:nvPr/>
        </p:nvSpPr>
        <p:spPr>
          <a:xfrm>
            <a:off x="5989320" y="914400"/>
            <a:ext cx="2697480" cy="3931920"/>
          </a:xfrm>
          <a:prstGeom prst="roundRect">
            <a:avLst>
              <a:gd name="adj" fmla="val 5085"/>
            </a:avLst>
          </a:prstGeom>
          <a:solidFill>
            <a:srgbClr val="F4F6FB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24"/>
          <p:cNvSpPr/>
          <p:nvPr/>
        </p:nvSpPr>
        <p:spPr>
          <a:xfrm>
            <a:off x="5989320" y="10058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AEGIS Fortress</a:t>
            </a:r>
            <a:endParaRPr lang="en-US" sz="1300" dirty="0"/>
          </a:p>
        </p:txBody>
      </p:sp>
      <p:sp>
        <p:nvSpPr>
          <p:cNvPr id="39" name="Text 25"/>
          <p:cNvSpPr/>
          <p:nvPr/>
        </p:nvSpPr>
        <p:spPr>
          <a:xfrm>
            <a:off x="5989320" y="1417320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3000" dirty="0"/>
          </a:p>
        </p:txBody>
      </p:sp>
      <p:pic>
        <p:nvPicPr>
          <p:cNvPr id="40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423160"/>
            <a:ext cx="201168" cy="201168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6428232" y="23774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in Guard</a:t>
            </a:r>
            <a:endParaRPr lang="en-US" sz="1000" dirty="0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816352"/>
            <a:ext cx="201168" cy="201168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6428232" y="277063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+ Jira connectors</a:t>
            </a:r>
            <a:endParaRPr lang="en-US" sz="1000" dirty="0"/>
          </a:p>
        </p:txBody>
      </p:sp>
      <p:pic>
        <p:nvPicPr>
          <p:cNvPr id="44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209544"/>
            <a:ext cx="201168" cy="201168"/>
          </a:xfrm>
          <a:prstGeom prst="rect">
            <a:avLst/>
          </a:prstGeom>
        </p:spPr>
      </p:pic>
      <p:sp>
        <p:nvSpPr>
          <p:cNvPr id="45" name="Text 28"/>
          <p:cNvSpPr/>
          <p:nvPr/>
        </p:nvSpPr>
        <p:spPr>
          <a:xfrm>
            <a:off x="6428232" y="31638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onboarding</a:t>
            </a:r>
            <a:endParaRPr lang="en-US" sz="1000" dirty="0"/>
          </a:p>
        </p:txBody>
      </p:sp>
      <p:pic>
        <p:nvPicPr>
          <p:cNvPr id="46" name="Image 1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602736"/>
            <a:ext cx="201168" cy="201168"/>
          </a:xfrm>
          <a:prstGeom prst="rect">
            <a:avLst/>
          </a:prstGeom>
        </p:spPr>
      </p:pic>
      <p:sp>
        <p:nvSpPr>
          <p:cNvPr id="47" name="Text 29"/>
          <p:cNvSpPr/>
          <p:nvPr/>
        </p:nvSpPr>
        <p:spPr>
          <a:xfrm>
            <a:off x="6428232" y="355701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 guarantee (99.9%)</a:t>
            </a:r>
            <a:endParaRPr lang="en-US" sz="1000" dirty="0"/>
          </a:p>
        </p:txBody>
      </p:sp>
      <p:pic>
        <p:nvPicPr>
          <p:cNvPr id="48" name="Image 1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3995928"/>
            <a:ext cx="201168" cy="201168"/>
          </a:xfrm>
          <a:prstGeom prst="rect">
            <a:avLst/>
          </a:prstGeom>
        </p:spPr>
      </p:pic>
      <p:sp>
        <p:nvSpPr>
          <p:cNvPr id="49" name="Text 30"/>
          <p:cNvSpPr/>
          <p:nvPr/>
        </p:nvSpPr>
        <p:spPr>
          <a:xfrm>
            <a:off x="6428232" y="395020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On-premise deployment option</a:t>
            </a:r>
            <a:endParaRPr lang="en-US" sz="1000" dirty="0"/>
          </a:p>
        </p:txBody>
      </p:sp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4389120"/>
            <a:ext cx="201168" cy="201168"/>
          </a:xfrm>
          <a:prstGeom prst="rect">
            <a:avLst/>
          </a:prstGeom>
        </p:spPr>
      </p:pic>
      <p:sp>
        <p:nvSpPr>
          <p:cNvPr id="51" name="Text 31"/>
          <p:cNvSpPr/>
          <p:nvPr/>
        </p:nvSpPr>
        <p:spPr>
          <a:xfrm>
            <a:off x="6428232" y="434340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 available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914400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577840" y="914400"/>
            <a:ext cx="3200400" cy="3657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577840" y="91440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382512" y="91440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Shield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7187184" y="91440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991856" y="914400"/>
            <a:ext cx="804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MRR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577840" y="128016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577840" y="128016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382512" y="128016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382512" y="128016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(free)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187184" y="128016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187184" y="128016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991856" y="128016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991856" y="128016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577840" y="1783080"/>
            <a:ext cx="804672" cy="4572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577840" y="178308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6382512" y="1783080"/>
            <a:ext cx="804672" cy="4572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382512" y="178308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187184" y="1783080"/>
            <a:ext cx="804672" cy="4572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187184" y="178308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991856" y="1783080"/>
            <a:ext cx="804672" cy="457200"/>
          </a:xfrm>
          <a:prstGeom prst="rect">
            <a:avLst/>
          </a:prstGeom>
          <a:solidFill>
            <a:srgbClr val="F4F6FB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7991856" y="178308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$5,493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5577840" y="228600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5577840" y="228600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382512" y="228600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382512" y="228600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7187184" y="228600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7187184" y="228600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7991856" y="2286000"/>
            <a:ext cx="80467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7991856" y="228600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$12,485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577840" y="2788920"/>
            <a:ext cx="804672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5577840" y="278892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382512" y="2788920"/>
            <a:ext cx="804672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6382512" y="278892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187184" y="2788920"/>
            <a:ext cx="804672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7187184" y="278892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991856" y="2788920"/>
            <a:ext cx="804672" cy="457200"/>
          </a:xfrm>
          <a:prstGeom prst="rect">
            <a:avLst/>
          </a:prstGeom>
          <a:solidFill>
            <a:srgbClr val="EEF2FF"/>
          </a:solidFill>
          <a:ln w="635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7991856" y="2788920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$22,475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5577840" y="3337560"/>
            <a:ext cx="3200400" cy="594360"/>
          </a:xfrm>
          <a:prstGeom prst="roundRect">
            <a:avLst>
              <a:gd name="adj" fmla="val 12308"/>
            </a:avLst>
          </a:prstGeom>
          <a:solidFill>
            <a:srgbClr val="EEF2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5623560" y="33832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$22k MRR by end of Year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customers at avg $1k/mo = $150k ARR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914400"/>
            <a:ext cx="594360" cy="59436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914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463040" y="1211580"/>
            <a:ext cx="59436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600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920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1–2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2286000"/>
            <a:ext cx="1691640" cy="246888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3774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Module (webhook)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30632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demo &lt; 15s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7490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 + Orchestrator tested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60320" y="914400"/>
            <a:ext cx="594360" cy="59436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60320" y="914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00400" y="1211580"/>
            <a:ext cx="59436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011680" y="1600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11680" y="1920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3–6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11680" y="2286000"/>
            <a:ext cx="1691640" cy="246888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103120" y="23774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 bot + PagerDuty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03120" y="30632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beta customers onboarded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03120" y="37490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MTTR data collected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297680" y="914400"/>
            <a:ext cx="594360" cy="59436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97680" y="914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937760" y="1211580"/>
            <a:ext cx="59436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749040" y="1600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749040" y="1920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7–10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49040" y="2286000"/>
            <a:ext cx="1691640" cy="246888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40480" y="23774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Script auto-execution sandbox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840480" y="30632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learning loop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840480" y="37490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dashboard v1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35040" y="91440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035040" y="914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675120" y="1211580"/>
            <a:ext cx="594360" cy="0"/>
          </a:xfrm>
          <a:prstGeom prst="line">
            <a:avLst/>
          </a:prstGeom>
          <a:noFill/>
          <a:ln w="254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86400" y="1600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86400" y="1920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 11–16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0" y="2286000"/>
            <a:ext cx="1691640" cy="246888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577840" y="23774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Landing page + pricing live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77840" y="30632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paying customers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77840" y="37490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case studies published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772400" y="914400"/>
            <a:ext cx="594360" cy="594360"/>
          </a:xfrm>
          <a:prstGeom prst="ellipse">
            <a:avLst/>
          </a:prstGeom>
          <a:solidFill>
            <a:srgbClr val="EF44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772400" y="914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223760" y="16002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223760" y="1920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6+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223760" y="2286000"/>
            <a:ext cx="1691640" cy="2468880"/>
          </a:xfrm>
          <a:prstGeom prst="roundRect">
            <a:avLst>
              <a:gd name="adj" fmla="val 5405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7315200" y="23774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Jira + Opsgenie integration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315200" y="30632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incident patterns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315200" y="37490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enterprise contract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32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33272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96012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 engine operational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22960" y="1280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orchestrator.py running against 10-pattern knowledge base — producing real diagnoses today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691640"/>
            <a:ext cx="320040" cy="3200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2960" y="161848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L1/L2 classifier operational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822960" y="193852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classifier.py with ChromaDB vector search and confidence scoring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350008"/>
            <a:ext cx="320040" cy="3200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2960" y="2276856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real incident patterns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822960" y="259689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AWS, Cloudflare, Google, GitHub, Netflix public postmortems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008376"/>
            <a:ext cx="320040" cy="32004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2960" y="2935224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showcase repository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822960" y="325526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github.com/laral5173/aegis-itsm-agent — README, architecture, full business documentation</a:t>
            </a:r>
            <a:endParaRPr lang="en-US" sz="11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66744"/>
            <a:ext cx="320040" cy="32004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22960" y="35935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Production-validated problem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822960" y="391363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 years enterprise SRE — currently Tier-4 Escalation Authority at Blue Yonder</a:t>
            </a:r>
            <a:endParaRPr lang="en-US" sz="11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4325112"/>
            <a:ext cx="320040" cy="32004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22960" y="4251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Informing real production design</a:t>
            </a:r>
            <a:endParaRPr lang="en-US" sz="1300" dirty="0"/>
          </a:p>
        </p:txBody>
      </p:sp>
      <p:sp>
        <p:nvSpPr>
          <p:cNvPr id="20" name="Text 12"/>
          <p:cNvSpPr/>
          <p:nvPr/>
        </p:nvSpPr>
        <p:spPr>
          <a:xfrm>
            <a:off x="82296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Actively architecting AI-driven ITSM pipeline at Blue Yonder using the same approach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Team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4023360" cy="3886200"/>
          </a:xfrm>
          <a:prstGeom prst="roundRect">
            <a:avLst>
              <a:gd name="adj" fmla="val 3529"/>
            </a:avLst>
          </a:prstGeom>
          <a:solidFill>
            <a:srgbClr val="1E2761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554480" y="1051560"/>
            <a:ext cx="1645920" cy="1645920"/>
          </a:xfrm>
          <a:prstGeom prst="ellipse">
            <a:avLst/>
          </a:prstGeom>
          <a:solidFill>
            <a:srgbClr val="25348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1417320"/>
            <a:ext cx="914400" cy="914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8346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Leopoldo Lara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3246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Technical Architect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3566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laral5173@gmail.com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7200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Monterrey, Mexico  •  Open to Remote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96012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754880" y="9601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role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9601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Tier-4 Escalation Authority — Blue Yonder (Global SaaS leader)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160020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754880" y="16002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43600" y="16002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M.Sc. in Artificial Intelligence — GPA 9.78/10 (April 2026)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63440" y="224028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4754880" y="22402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943600" y="224028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15+ years enterprise: Blue Yonder, Epicor Software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663440" y="288036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754880" y="28803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943600" y="288036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 23 end-to-end Azure enterprise implementations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4663440" y="352044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754880" y="35204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expertise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943600" y="352044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LLMs, RAG, Python, LangChain, ChromaDB, Azure, MLOps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663440" y="416052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754880" y="4160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win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943600" y="416052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migration: 14-day cutover → 2 days (86% improvement)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253480">
              <a:alpha val="60000"/>
            </a:srgbClr>
          </a:solidFill>
          <a:ln w="12700">
            <a:solidFill>
              <a:srgbClr val="2534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1A2860">
              <a:alpha val="50000"/>
            </a:srgbClr>
          </a:solidFill>
          <a:ln w="12700">
            <a:solidFill>
              <a:srgbClr val="1A28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697480" cy="2743200"/>
          </a:xfrm>
          <a:prstGeom prst="roundRect">
            <a:avLst>
              <a:gd name="adj" fmla="val 5085"/>
            </a:avLst>
          </a:prstGeom>
          <a:solidFill>
            <a:srgbClr val="25348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55448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22860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Beta Customers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7432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companies 50–500 employees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90-day pilot — zero commitment — full setup support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0" y="1371600"/>
            <a:ext cx="2697480" cy="2743200"/>
          </a:xfrm>
          <a:prstGeom prst="roundRect">
            <a:avLst>
              <a:gd name="adj" fmla="val 5085"/>
            </a:avLst>
          </a:prstGeom>
          <a:solidFill>
            <a:srgbClr val="25348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554480"/>
            <a:ext cx="594360" cy="594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00400" y="22860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Advisors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291840" y="27432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SRE / DevOps / Incident Response background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 validate patterns and remediation scripts in production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035040" y="1371600"/>
            <a:ext cx="2697480" cy="2743200"/>
          </a:xfrm>
          <a:prstGeom prst="roundRect">
            <a:avLst>
              <a:gd name="adj" fmla="val 5085"/>
            </a:avLst>
          </a:prstGeom>
          <a:solidFill>
            <a:srgbClr val="253480"/>
          </a:solidFill>
          <a:ln/>
          <a:effectLst>
            <a:outerShdw blurRad="101600" dist="38100" dir="27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554480"/>
            <a:ext cx="594360" cy="594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035040" y="22860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Partnerships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126480" y="274320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PagerDuty, Datadog, or Slack ecosystem players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presence to reach thousands of potential customers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09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laral5173@gmail.com  •  github.com/laral5173/aegis-itsm-agent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1593</Words>
  <Application>Microsoft Office PowerPoint</Application>
  <PresentationFormat>On-screen Show (16:9)</PresentationFormat>
  <Paragraphs>283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 — Pitch Deck</dc:title>
  <dc:subject>PptxGenJS Presentation</dc:subject>
  <dc:creator>Leopoldo Lara</dc:creator>
  <cp:lastModifiedBy>Leopoldo Lara</cp:lastModifiedBy>
  <cp:revision>2</cp:revision>
  <dcterms:created xsi:type="dcterms:W3CDTF">2026-06-14T00:54:26Z</dcterms:created>
  <dcterms:modified xsi:type="dcterms:W3CDTF">2026-06-14T21:30:28Z</dcterms:modified>
</cp:coreProperties>
</file>